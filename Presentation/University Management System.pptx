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90" d="100"/>
          <a:sy n="90" d="100"/>
        </p:scale>
        <p:origin x="-1090" y="-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3" name="Shape 11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9149416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431800" indent="-4064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431800" indent="762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431800" indent="5588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431800" indent="10414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431800" indent="14986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63385" indent="-391885">
              <a:spcBef>
                <a:spcPts val="300"/>
              </a:spcBef>
            </a:lvl2pPr>
            <a:lvl3pPr marL="1485900" indent="-457200">
              <a:spcBef>
                <a:spcPts val="300"/>
              </a:spcBef>
            </a:lvl3pPr>
            <a:lvl4pPr marL="2034539" indent="-548639">
              <a:spcBef>
                <a:spcPts val="300"/>
              </a:spcBef>
            </a:lvl4pPr>
            <a:lvl5pPr marL="2491739" indent="-548639">
              <a:spcBef>
                <a:spcPts val="300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/>
            </a:lvl1pPr>
          </a:lstStyle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228600" indent="4572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228600" indent="9144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228600" indent="13716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228600" indent="18288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 indent="-406400">
              <a:spcBef>
                <a:spcPts val="500"/>
              </a:spcBef>
              <a:buSzPts val="2800"/>
              <a:defRPr sz="2800"/>
            </a:lvl1pPr>
            <a:lvl2pPr marL="977900" indent="-444500">
              <a:spcBef>
                <a:spcPts val="500"/>
              </a:spcBef>
              <a:buSzPts val="2800"/>
              <a:defRPr sz="2800"/>
            </a:lvl2pPr>
            <a:lvl3pPr marL="1513839" indent="-497839">
              <a:spcBef>
                <a:spcPts val="500"/>
              </a:spcBef>
              <a:buSzPts val="2800"/>
              <a:defRPr sz="2800"/>
            </a:lvl3pPr>
            <a:lvl4pPr marL="2019300" indent="-533400">
              <a:spcBef>
                <a:spcPts val="500"/>
              </a:spcBef>
              <a:buSzPts val="2800"/>
              <a:defRPr sz="2800"/>
            </a:lvl4pPr>
            <a:lvl5pPr marL="2476500" indent="-533400">
              <a:spcBef>
                <a:spcPts val="500"/>
              </a:spcBef>
              <a:buSzPts val="2800"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Google Shape;36;p6"/>
          <p:cNvSpPr txBox="1">
            <a:spLocks noGrp="1"/>
          </p:cNvSpPr>
          <p:nvPr>
            <p:ph type="body" sz="half" idx="21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indent="-406400">
              <a:spcBef>
                <a:spcPts val="500"/>
              </a:spcBef>
              <a:buSzPts val="2800"/>
              <a:defRPr sz="2800"/>
            </a:pPr>
            <a:endParaRPr/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400"/>
              </a:spcBef>
              <a:buClrTx/>
              <a:buSzTx/>
              <a:buFontTx/>
              <a:buNone/>
              <a:defRPr sz="2400" b="1"/>
            </a:lvl1pPr>
            <a:lvl2pPr marL="228600" indent="457200">
              <a:spcBef>
                <a:spcPts val="400"/>
              </a:spcBef>
              <a:buClrTx/>
              <a:buSzTx/>
              <a:buFontTx/>
              <a:buNone/>
              <a:defRPr sz="2400" b="1"/>
            </a:lvl2pPr>
            <a:lvl3pPr marL="228600" indent="914400">
              <a:spcBef>
                <a:spcPts val="400"/>
              </a:spcBef>
              <a:buClrTx/>
              <a:buSzTx/>
              <a:buFontTx/>
              <a:buNone/>
              <a:defRPr sz="2400" b="1"/>
            </a:lvl3pPr>
            <a:lvl4pPr marL="228600" indent="1371600">
              <a:spcBef>
                <a:spcPts val="400"/>
              </a:spcBef>
              <a:buClrTx/>
              <a:buSzTx/>
              <a:buFontTx/>
              <a:buNone/>
              <a:defRPr sz="2400" b="1"/>
            </a:lvl4pPr>
            <a:lvl5pPr marL="228600" indent="1828800">
              <a:spcBef>
                <a:spcPts val="400"/>
              </a:spcBef>
              <a:buClrTx/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Google Shape;43;p7"/>
          <p:cNvSpPr txBox="1">
            <a:spLocks noGrp="1"/>
          </p:cNvSpPr>
          <p:nvPr>
            <p:ph type="body" sz="quarter" idx="21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/>
          <a:p>
            <a:pPr indent="-381000">
              <a:spcBef>
                <a:spcPts val="400"/>
              </a:spcBef>
              <a:buSzPts val="2400"/>
              <a:defRPr sz="2400"/>
            </a:pPr>
            <a:endParaRPr/>
          </a:p>
        </p:txBody>
      </p:sp>
      <p:sp>
        <p:nvSpPr>
          <p:cNvPr id="58" name="Google Shape;44;p7"/>
          <p:cNvSpPr txBox="1">
            <a:spLocks noGrp="1"/>
          </p:cNvSpPr>
          <p:nvPr>
            <p:ph type="body" sz="quarter" idx="22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228600" indent="0">
              <a:spcBef>
                <a:spcPts val="400"/>
              </a:spcBef>
              <a:buClrTx/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9" name="Google Shape;45;p7"/>
          <p:cNvSpPr txBox="1">
            <a:spLocks noGrp="1"/>
          </p:cNvSpPr>
          <p:nvPr>
            <p:ph type="body" sz="quarter" idx="23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/>
          <a:p>
            <a:pPr indent="-381000">
              <a:spcBef>
                <a:spcPts val="400"/>
              </a:spcBef>
              <a:buSzPts val="2400"/>
              <a:defRPr sz="2400"/>
            </a:pPr>
            <a:endParaRPr/>
          </a:p>
        </p:txBody>
      </p:sp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Google Shape;57;p9"/>
          <p:cNvSpPr txBox="1"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228600" indent="0">
              <a:spcBef>
                <a:spcPts val="200"/>
              </a:spcBef>
              <a:buClrTx/>
              <a:buSzTx/>
              <a:buFontTx/>
              <a:buNone/>
              <a:defRPr sz="1400"/>
            </a:pPr>
            <a:endParaRPr/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6" name="Google Shape;63;p10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228600" indent="0">
              <a:spcBef>
                <a:spcPts val="200"/>
              </a:spcBef>
              <a:buClrTx/>
              <a:buSzTx/>
              <a:buFontTx/>
              <a:buNone/>
              <a:defRPr sz="1400"/>
            </a:lvl1pPr>
            <a:lvl2pPr marL="228600" indent="457200">
              <a:spcBef>
                <a:spcPts val="200"/>
              </a:spcBef>
              <a:buClrTx/>
              <a:buSzTx/>
              <a:buFontTx/>
              <a:buNone/>
              <a:defRPr sz="1400"/>
            </a:lvl2pPr>
            <a:lvl3pPr marL="228600" indent="914400">
              <a:spcBef>
                <a:spcPts val="200"/>
              </a:spcBef>
              <a:buClrTx/>
              <a:buSzTx/>
              <a:buFontTx/>
              <a:buNone/>
              <a:defRPr sz="1400"/>
            </a:lvl3pPr>
            <a:lvl4pPr marL="228600" indent="1371600">
              <a:spcBef>
                <a:spcPts val="200"/>
              </a:spcBef>
              <a:buClrTx/>
              <a:buSzTx/>
              <a:buFontTx/>
              <a:buNone/>
              <a:defRPr sz="1400"/>
            </a:lvl4pPr>
            <a:lvl5pPr marL="228600" indent="1828800">
              <a:spcBef>
                <a:spcPts val="200"/>
              </a:spcBef>
              <a:buClrTx/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6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8"/>
            <a:ext cx="4525964" cy="8229601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63385" indent="-391885">
              <a:spcBef>
                <a:spcPts val="300"/>
              </a:spcBef>
            </a:lvl2pPr>
            <a:lvl3pPr marL="1485900" indent="-457200">
              <a:spcBef>
                <a:spcPts val="300"/>
              </a:spcBef>
            </a:lvl3pPr>
            <a:lvl4pPr marL="2034539" indent="-548639">
              <a:spcBef>
                <a:spcPts val="300"/>
              </a:spcBef>
            </a:lvl4pPr>
            <a:lvl5pPr marL="2491739" indent="-548639">
              <a:spcBef>
                <a:spcPts val="300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6" cy="20574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5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541337" y="190500"/>
            <a:ext cx="5851526" cy="6019800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63385" indent="-391885">
              <a:spcBef>
                <a:spcPts val="300"/>
              </a:spcBef>
            </a:lvl2pPr>
            <a:lvl3pPr marL="1485900" indent="-457200">
              <a:spcBef>
                <a:spcPts val="300"/>
              </a:spcBef>
            </a:lvl3pPr>
            <a:lvl4pPr marL="2034539" indent="-548639">
              <a:spcBef>
                <a:spcPts val="300"/>
              </a:spcBef>
            </a:lvl4pPr>
            <a:lvl5pPr marL="2491739" indent="-548639">
              <a:spcBef>
                <a:spcPts val="300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4318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2457" marR="0" indent="-464457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498600" marR="0" indent="-5080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42160" marR="0" indent="-5689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99360" marR="0" indent="-5689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56560" marR="0" indent="-5689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413759" marR="0" indent="-56895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70959" marR="0" indent="-56895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28159" marR="0" indent="-56895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84;p13" descr="Google Shape;84;p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Google Shape;85;p13"/>
          <p:cNvSpPr txBox="1"/>
          <p:nvPr/>
        </p:nvSpPr>
        <p:spPr>
          <a:xfrm>
            <a:off x="685323" y="2799457"/>
            <a:ext cx="10821352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10000"/>
              </a:lnSpc>
              <a:defRPr sz="5200" b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University </a:t>
            </a:r>
            <a:r>
              <a:rPr>
                <a:solidFill>
                  <a:srgbClr val="FBBF24"/>
                </a:solidFill>
              </a:rPr>
              <a:t>Management</a:t>
            </a:r>
            <a:r>
              <a:t> System</a:t>
            </a:r>
          </a:p>
        </p:txBody>
      </p:sp>
      <p:sp>
        <p:nvSpPr>
          <p:cNvPr id="117" name="Google Shape;86;p13"/>
          <p:cNvSpPr txBox="1"/>
          <p:nvPr/>
        </p:nvSpPr>
        <p:spPr>
          <a:xfrm>
            <a:off x="942975" y="3723382"/>
            <a:ext cx="1030605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60000"/>
              </a:lnSpc>
              <a:defRPr sz="160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t>Domain: Academic EdTech  |  Team: Ahmed Mostafa , Gihad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91;p14" descr="Google Shape;91;p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Google Shape;92;p14"/>
          <p:cNvSpPr txBox="1"/>
          <p:nvPr/>
        </p:nvSpPr>
        <p:spPr>
          <a:xfrm>
            <a:off x="571500" y="571500"/>
            <a:ext cx="5550693" cy="55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37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pPr>
            <a:r>
              <a:t>The </a:t>
            </a:r>
            <a:r>
              <a:rPr>
                <a:solidFill>
                  <a:srgbClr val="FBBF24"/>
                </a:solidFill>
              </a:rPr>
              <a:t>Problem</a:t>
            </a:r>
          </a:p>
        </p:txBody>
      </p:sp>
      <p:pic>
        <p:nvPicPr>
          <p:cNvPr id="121" name="Google Shape;93;p14" descr="Google Shape;93;p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Google Shape;94;p14"/>
          <p:cNvSpPr txBox="1"/>
          <p:nvPr/>
        </p:nvSpPr>
        <p:spPr>
          <a:xfrm>
            <a:off x="571500" y="2415777"/>
            <a:ext cx="5286375" cy="726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9944"/>
              </a:lnSpc>
              <a:defRPr sz="18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t>Universities struggle daily with fragmented and siloed administrative data.</a:t>
            </a:r>
          </a:p>
        </p:txBody>
      </p:sp>
      <p:sp>
        <p:nvSpPr>
          <p:cNvPr id="123" name="Google Shape;95;p14"/>
          <p:cNvSpPr txBox="1"/>
          <p:nvPr/>
        </p:nvSpPr>
        <p:spPr>
          <a:xfrm>
            <a:off x="571500" y="3432869"/>
            <a:ext cx="5286375" cy="2066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9944"/>
              </a:lnSpc>
              <a:defRPr sz="18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t>Administrators, instructors, and students lack a unified console to handle enrollments, grading, and scheduling. This disconnection leads to critical administrative errors, lost data records, and painfully delayed GPA calculations.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00;p15" descr="Google Shape;100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Google Shape;101;p15" descr="Google Shape;101;p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34125" y="2076450"/>
            <a:ext cx="5286375" cy="3810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Google Shape;102;p15"/>
          <p:cNvSpPr txBox="1"/>
          <p:nvPr/>
        </p:nvSpPr>
        <p:spPr>
          <a:xfrm>
            <a:off x="904875" y="2164556"/>
            <a:ext cx="4953000" cy="627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0000"/>
              </a:lnSpc>
              <a:defRPr sz="16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t>A centralized, robust C# console application designed for rapid data entry.</a:t>
            </a:r>
          </a:p>
        </p:txBody>
      </p:sp>
      <p:sp>
        <p:nvSpPr>
          <p:cNvPr id="128" name="Google Shape;103;p15"/>
          <p:cNvSpPr txBox="1"/>
          <p:nvPr/>
        </p:nvSpPr>
        <p:spPr>
          <a:xfrm>
            <a:off x="904875" y="3073002"/>
            <a:ext cx="4953000" cy="627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0000"/>
              </a:lnSpc>
              <a:defRPr sz="16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t>Digitally tracks the entire academic lifecycle from student registration to course enrollment.</a:t>
            </a:r>
          </a:p>
        </p:txBody>
      </p:sp>
      <p:sp>
        <p:nvSpPr>
          <p:cNvPr id="129" name="Google Shape;104;p15"/>
          <p:cNvSpPr txBox="1"/>
          <p:nvPr/>
        </p:nvSpPr>
        <p:spPr>
          <a:xfrm>
            <a:off x="904875" y="3981449"/>
            <a:ext cx="4953000" cy="62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0000"/>
              </a:lnSpc>
              <a:defRPr sz="16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t>Acts as the central nervous system for a university, seamlessly connecting users and processes.</a:t>
            </a:r>
          </a:p>
        </p:txBody>
      </p:sp>
      <p:sp>
        <p:nvSpPr>
          <p:cNvPr id="130" name="Google Shape;105;p15"/>
          <p:cNvSpPr txBox="1"/>
          <p:nvPr/>
        </p:nvSpPr>
        <p:spPr>
          <a:xfrm>
            <a:off x="904875" y="4889896"/>
            <a:ext cx="4953000" cy="627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0000"/>
              </a:lnSpc>
              <a:defRPr sz="16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t>Powered by solid OOP principles and generic data managers for ultimate reliability.</a:t>
            </a:r>
          </a:p>
        </p:txBody>
      </p:sp>
      <p:pic>
        <p:nvPicPr>
          <p:cNvPr id="131" name="Google Shape;106;p15" descr="Google Shape;106;p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53175" y="2095500"/>
            <a:ext cx="5248275" cy="3771900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Google Shape;107;p15"/>
          <p:cNvSpPr txBox="1"/>
          <p:nvPr/>
        </p:nvSpPr>
        <p:spPr>
          <a:xfrm>
            <a:off x="571500" y="571500"/>
            <a:ext cx="11601450" cy="55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37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pPr>
            <a:r>
              <a:t>Project </a:t>
            </a:r>
            <a:r>
              <a:rPr>
                <a:solidFill>
                  <a:srgbClr val="FBBF24"/>
                </a:solidFill>
              </a:rPr>
              <a:t>Idea</a:t>
            </a:r>
          </a:p>
        </p:txBody>
      </p:sp>
      <p:pic>
        <p:nvPicPr>
          <p:cNvPr id="133" name="Google Shape;108;p15" descr="Google Shape;108;p1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1500" y="2202656"/>
            <a:ext cx="104775" cy="2190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" name="Google Shape;109;p15" descr="Google Shape;109;p1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1500" y="3111102"/>
            <a:ext cx="104775" cy="2190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Google Shape;110;p15" descr="Google Shape;110;p1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1500" y="4019550"/>
            <a:ext cx="104775" cy="2190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Google Shape;111;p15" descr="Google Shape;111;p1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1500" y="4927996"/>
            <a:ext cx="104775" cy="2190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16;p16" descr="Google Shape;116;p1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Google Shape;117;p16" descr="Google Shape;117;p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1889818"/>
            <a:ext cx="5381625" cy="1948757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Google Shape;118;p16" descr="Google Shape;118;p1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38875" y="1889818"/>
            <a:ext cx="5381625" cy="1948757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Google Shape;119;p16" descr="Google Shape;119;p1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1500" y="4124325"/>
            <a:ext cx="5381625" cy="19487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Google Shape;120;p16" descr="Google Shape;120;p1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38875" y="4124325"/>
            <a:ext cx="5381625" cy="1948756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Google Shape;121;p16"/>
          <p:cNvSpPr txBox="1"/>
          <p:nvPr/>
        </p:nvSpPr>
        <p:spPr>
          <a:xfrm>
            <a:off x="914400" y="2947093"/>
            <a:ext cx="4695825" cy="528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0000"/>
              </a:lnSpc>
              <a:defRPr sz="13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t>Automated ID &amp; secure university Email generation for both Students and Instructors (Full-time &amp; Part-time).</a:t>
            </a:r>
          </a:p>
        </p:txBody>
      </p:sp>
      <p:sp>
        <p:nvSpPr>
          <p:cNvPr id="144" name="Google Shape;122;p16"/>
          <p:cNvSpPr txBox="1"/>
          <p:nvPr/>
        </p:nvSpPr>
        <p:spPr>
          <a:xfrm>
            <a:off x="6581775" y="2947093"/>
            <a:ext cx="4695825" cy="528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0000"/>
              </a:lnSpc>
              <a:defRPr sz="13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t>Streamlined course creation, instructor assignment logic, and complex student enrollment tracking systems.</a:t>
            </a:r>
          </a:p>
        </p:txBody>
      </p:sp>
      <p:sp>
        <p:nvSpPr>
          <p:cNvPr id="145" name="Google Shape;123;p16"/>
          <p:cNvSpPr txBox="1"/>
          <p:nvPr/>
        </p:nvSpPr>
        <p:spPr>
          <a:xfrm>
            <a:off x="914400" y="5181600"/>
            <a:ext cx="4695825" cy="528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0000"/>
              </a:lnSpc>
              <a:defRPr sz="13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t>A robust module dedicated to scheduling strict examinations and accurately recording student test results.</a:t>
            </a:r>
          </a:p>
        </p:txBody>
      </p:sp>
      <p:sp>
        <p:nvSpPr>
          <p:cNvPr id="146" name="Google Shape;124;p16"/>
          <p:cNvSpPr txBox="1"/>
          <p:nvPr/>
        </p:nvSpPr>
        <p:spPr>
          <a:xfrm>
            <a:off x="6581775" y="5181600"/>
            <a:ext cx="4695825" cy="528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0000"/>
              </a:lnSpc>
              <a:defRPr sz="13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t>Automated, instantaneous GPA calculation based on raw scores, credit hours, and algorithmic course points.</a:t>
            </a:r>
          </a:p>
        </p:txBody>
      </p:sp>
      <p:sp>
        <p:nvSpPr>
          <p:cNvPr id="147" name="Google Shape;125;p16"/>
          <p:cNvSpPr txBox="1"/>
          <p:nvPr/>
        </p:nvSpPr>
        <p:spPr>
          <a:xfrm>
            <a:off x="914400" y="2305050"/>
            <a:ext cx="253365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9952"/>
              </a:lnSpc>
              <a:defRPr sz="2100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r>
              <a:t>User Management</a:t>
            </a:r>
          </a:p>
        </p:txBody>
      </p:sp>
      <p:pic>
        <p:nvPicPr>
          <p:cNvPr id="148" name="Google Shape;126;p16" descr="Google Shape;126;p16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038725" y="2232718"/>
            <a:ext cx="571500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Google Shape;127;p16"/>
          <p:cNvSpPr txBox="1"/>
          <p:nvPr/>
        </p:nvSpPr>
        <p:spPr>
          <a:xfrm>
            <a:off x="6581775" y="2305050"/>
            <a:ext cx="210502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9952"/>
              </a:lnSpc>
              <a:defRPr sz="2100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r>
              <a:t>Academic Core</a:t>
            </a:r>
          </a:p>
        </p:txBody>
      </p:sp>
      <p:pic>
        <p:nvPicPr>
          <p:cNvPr id="150" name="Google Shape;128;p16" descr="Google Shape;128;p16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0706100" y="2232718"/>
            <a:ext cx="571500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Google Shape;129;p16"/>
          <p:cNvSpPr txBox="1"/>
          <p:nvPr/>
        </p:nvSpPr>
        <p:spPr>
          <a:xfrm>
            <a:off x="914400" y="4539555"/>
            <a:ext cx="244792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9952"/>
              </a:lnSpc>
              <a:defRPr sz="2100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r>
              <a:t>Evaluation Engine</a:t>
            </a:r>
          </a:p>
        </p:txBody>
      </p:sp>
      <p:pic>
        <p:nvPicPr>
          <p:cNvPr id="152" name="Google Shape;130;p16" descr="Google Shape;130;p1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038725" y="4467225"/>
            <a:ext cx="571500" cy="571500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Google Shape;131;p16"/>
          <p:cNvSpPr txBox="1"/>
          <p:nvPr/>
        </p:nvSpPr>
        <p:spPr>
          <a:xfrm>
            <a:off x="6581775" y="4539555"/>
            <a:ext cx="242887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9952"/>
              </a:lnSpc>
              <a:defRPr sz="2100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r>
              <a:t>Analytics Pipeline</a:t>
            </a:r>
          </a:p>
        </p:txBody>
      </p:sp>
      <p:pic>
        <p:nvPicPr>
          <p:cNvPr id="154" name="Google Shape;132;p16" descr="Google Shape;132;p1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0706100" y="4467225"/>
            <a:ext cx="571500" cy="571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Google Shape;133;p16" descr="Google Shape;133;p16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181600" y="2404168"/>
            <a:ext cx="285750" cy="228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6" name="Google Shape;134;p16" descr="Google Shape;134;p16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0877550" y="2404168"/>
            <a:ext cx="228600" cy="228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7" name="Google Shape;135;p16" descr="Google Shape;135;p16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5195887" y="4638675"/>
            <a:ext cx="257176" cy="228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Google Shape;136;p16" descr="Google Shape;136;p16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0906125" y="4638675"/>
            <a:ext cx="171450" cy="228600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Google Shape;137;p16"/>
          <p:cNvSpPr txBox="1"/>
          <p:nvPr/>
        </p:nvSpPr>
        <p:spPr>
          <a:xfrm>
            <a:off x="571500" y="571500"/>
            <a:ext cx="11601450" cy="55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37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pPr>
            <a:r>
              <a:t>Solution &amp; </a:t>
            </a:r>
            <a:r>
              <a:rPr>
                <a:solidFill>
                  <a:srgbClr val="FBBF24"/>
                </a:solidFill>
              </a:rPr>
              <a:t>Features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42;p17" descr="Google Shape;142;p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" name="Google Shape;143;p17" descr="Google Shape;143;p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1919286"/>
            <a:ext cx="11049000" cy="4124326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Google Shape;144;p17"/>
          <p:cNvSpPr/>
          <p:nvPr/>
        </p:nvSpPr>
        <p:spPr>
          <a:xfrm>
            <a:off x="571500" y="1919286"/>
            <a:ext cx="11049000" cy="4124326"/>
          </a:xfrm>
          <a:prstGeom prst="roundRect">
            <a:avLst>
              <a:gd name="adj" fmla="val 0"/>
            </a:avLst>
          </a:prstGeom>
          <a:solidFill>
            <a:srgbClr val="0F172A"/>
          </a:solidFill>
          <a:ln>
            <a:solidFill>
              <a:srgbClr val="4A7DBA"/>
            </a:solidFill>
          </a:ln>
          <a:effectLst>
            <a:outerShdw blurRad="38100" dist="23000" dir="5400000" rotWithShape="0">
              <a:srgbClr val="000000">
                <a:alpha val="34901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aphicFrame>
        <p:nvGraphicFramePr>
          <p:cNvPr id="164" name="Google Shape;145;p17"/>
          <p:cNvGraphicFramePr/>
          <p:nvPr/>
        </p:nvGraphicFramePr>
        <p:xfrm>
          <a:off x="571500" y="1919286"/>
          <a:ext cx="11049000" cy="4124375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2301475"/>
                <a:gridCol w="3169450"/>
                <a:gridCol w="5578075"/>
              </a:tblGrid>
              <a:tr h="824875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BBF24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Architectural Layer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BBF24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Key Classes &amp; Interfaces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BBF24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Core Responsibility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8248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 b="1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Domain Models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Student, Course, Exam, Result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Define distinct business entities and encapsulate state data.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0F172A"/>
                    </a:solidFill>
                  </a:tcPr>
                </a:tc>
              </a:tr>
              <a:tr h="8248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 b="1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Abstract Interfaces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IManager, IResultService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Establish strict operational contracts for dependency injection.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151E32"/>
                    </a:solidFill>
                  </a:tcPr>
                </a:tc>
              </a:tr>
              <a:tr h="8248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 b="1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Managers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GenericManager, CourseManager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Handle generic, highly reusable data persistence and CRUD logic.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0F172A"/>
                    </a:solidFill>
                  </a:tcPr>
                </a:tc>
              </a:tr>
              <a:tr h="8248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 b="1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Business Services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EnrollmentService, ExamService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Execute complex algorithmic rules and multi-entity orchestrations.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151E32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46;p17"/>
          <p:cNvSpPr/>
          <p:nvPr/>
        </p:nvSpPr>
        <p:spPr>
          <a:xfrm>
            <a:off x="571499" y="2862261"/>
            <a:ext cx="2301480" cy="19051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6" name="Google Shape;147;p17"/>
          <p:cNvSpPr/>
          <p:nvPr/>
        </p:nvSpPr>
        <p:spPr>
          <a:xfrm>
            <a:off x="2872977" y="2862261"/>
            <a:ext cx="3169444" cy="19051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7" name="Google Shape;148;p17"/>
          <p:cNvSpPr/>
          <p:nvPr/>
        </p:nvSpPr>
        <p:spPr>
          <a:xfrm>
            <a:off x="6042421" y="2862261"/>
            <a:ext cx="5578079" cy="19051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8" name="Google Shape;149;p17"/>
          <p:cNvSpPr/>
          <p:nvPr/>
        </p:nvSpPr>
        <p:spPr>
          <a:xfrm>
            <a:off x="571499" y="3494087"/>
            <a:ext cx="2301480" cy="12701"/>
          </a:xfrm>
          <a:prstGeom prst="rect">
            <a:avLst/>
          </a:prstGeom>
          <a:solidFill>
            <a:srgbClr val="33415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9" name="Google Shape;150;p17"/>
          <p:cNvSpPr/>
          <p:nvPr/>
        </p:nvSpPr>
        <p:spPr>
          <a:xfrm>
            <a:off x="2872977" y="3494087"/>
            <a:ext cx="3169444" cy="12701"/>
          </a:xfrm>
          <a:prstGeom prst="rect">
            <a:avLst/>
          </a:prstGeom>
          <a:solidFill>
            <a:srgbClr val="33415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0" name="Google Shape;151;p17"/>
          <p:cNvSpPr/>
          <p:nvPr/>
        </p:nvSpPr>
        <p:spPr>
          <a:xfrm>
            <a:off x="6042421" y="3494087"/>
            <a:ext cx="5578079" cy="12701"/>
          </a:xfrm>
          <a:prstGeom prst="rect">
            <a:avLst/>
          </a:prstGeom>
          <a:solidFill>
            <a:srgbClr val="33415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1" name="Google Shape;152;p17"/>
          <p:cNvSpPr/>
          <p:nvPr/>
        </p:nvSpPr>
        <p:spPr>
          <a:xfrm>
            <a:off x="571499" y="4341812"/>
            <a:ext cx="2301480" cy="12701"/>
          </a:xfrm>
          <a:prstGeom prst="rect">
            <a:avLst/>
          </a:prstGeom>
          <a:solidFill>
            <a:srgbClr val="33415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2" name="Google Shape;153;p17"/>
          <p:cNvSpPr/>
          <p:nvPr/>
        </p:nvSpPr>
        <p:spPr>
          <a:xfrm>
            <a:off x="2872977" y="4341812"/>
            <a:ext cx="3169444" cy="12701"/>
          </a:xfrm>
          <a:prstGeom prst="rect">
            <a:avLst/>
          </a:prstGeom>
          <a:solidFill>
            <a:srgbClr val="33415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3" name="Google Shape;154;p17"/>
          <p:cNvSpPr/>
          <p:nvPr/>
        </p:nvSpPr>
        <p:spPr>
          <a:xfrm>
            <a:off x="6042421" y="4341812"/>
            <a:ext cx="5578079" cy="12701"/>
          </a:xfrm>
          <a:prstGeom prst="rect">
            <a:avLst/>
          </a:prstGeom>
          <a:solidFill>
            <a:srgbClr val="33415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4" name="Google Shape;155;p17"/>
          <p:cNvSpPr/>
          <p:nvPr/>
        </p:nvSpPr>
        <p:spPr>
          <a:xfrm>
            <a:off x="571499" y="5189537"/>
            <a:ext cx="2301480" cy="12701"/>
          </a:xfrm>
          <a:prstGeom prst="rect">
            <a:avLst/>
          </a:prstGeom>
          <a:solidFill>
            <a:srgbClr val="33415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5" name="Google Shape;156;p17"/>
          <p:cNvSpPr/>
          <p:nvPr/>
        </p:nvSpPr>
        <p:spPr>
          <a:xfrm>
            <a:off x="2872977" y="5189537"/>
            <a:ext cx="3169444" cy="12701"/>
          </a:xfrm>
          <a:prstGeom prst="rect">
            <a:avLst/>
          </a:prstGeom>
          <a:solidFill>
            <a:srgbClr val="33415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6" name="Google Shape;157;p17"/>
          <p:cNvSpPr/>
          <p:nvPr/>
        </p:nvSpPr>
        <p:spPr>
          <a:xfrm>
            <a:off x="6042421" y="5189537"/>
            <a:ext cx="5578079" cy="12701"/>
          </a:xfrm>
          <a:prstGeom prst="rect">
            <a:avLst/>
          </a:prstGeom>
          <a:solidFill>
            <a:srgbClr val="33415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7" name="Google Shape;158;p17"/>
          <p:cNvSpPr txBox="1"/>
          <p:nvPr/>
        </p:nvSpPr>
        <p:spPr>
          <a:xfrm>
            <a:off x="571500" y="571500"/>
            <a:ext cx="11601450" cy="55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37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pPr>
            <a:r>
              <a:t>Class </a:t>
            </a:r>
            <a:r>
              <a:rPr>
                <a:solidFill>
                  <a:srgbClr val="FBBF24"/>
                </a:solidFill>
              </a:rPr>
              <a:t>Structure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63;p18" descr="Google Shape;163;p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" name="Google Shape;164;p18" descr="Google Shape;164;p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1648866"/>
            <a:ext cx="5286375" cy="46653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Google Shape;165;p18" descr="Google Shape;165;p1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34125" y="1648866"/>
            <a:ext cx="5286375" cy="4665315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Google Shape;166;p18"/>
          <p:cNvSpPr txBox="1"/>
          <p:nvPr/>
        </p:nvSpPr>
        <p:spPr>
          <a:xfrm>
            <a:off x="914400" y="1991766"/>
            <a:ext cx="483060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solidFill>
                  <a:srgbClr val="FBBF24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r>
              <a:t>Inheritance</a:t>
            </a:r>
          </a:p>
        </p:txBody>
      </p:sp>
      <p:sp>
        <p:nvSpPr>
          <p:cNvPr id="183" name="Google Shape;167;p18"/>
          <p:cNvSpPr txBox="1"/>
          <p:nvPr/>
        </p:nvSpPr>
        <p:spPr>
          <a:xfrm>
            <a:off x="914400" y="2487066"/>
            <a:ext cx="460057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0000"/>
              </a:lnSpc>
              <a:defRPr sz="13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t>Constructors invoke base class logic.</a:t>
            </a:r>
          </a:p>
        </p:txBody>
      </p:sp>
      <p:sp>
        <p:nvSpPr>
          <p:cNvPr id="184" name="Google Shape;168;p18"/>
          <p:cNvSpPr txBox="1"/>
          <p:nvPr/>
        </p:nvSpPr>
        <p:spPr>
          <a:xfrm>
            <a:off x="6677025" y="1991766"/>
            <a:ext cx="483060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solidFill>
                  <a:srgbClr val="FBBF24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r>
              <a:t>Polymorphism</a:t>
            </a:r>
          </a:p>
        </p:txBody>
      </p:sp>
      <p:sp>
        <p:nvSpPr>
          <p:cNvPr id="185" name="Google Shape;169;p18"/>
          <p:cNvSpPr txBox="1"/>
          <p:nvPr/>
        </p:nvSpPr>
        <p:spPr>
          <a:xfrm>
            <a:off x="6677025" y="2487066"/>
            <a:ext cx="460057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0000"/>
              </a:lnSpc>
              <a:defRPr sz="13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t>Dynamic method overriding based on type.</a:t>
            </a:r>
          </a:p>
        </p:txBody>
      </p:sp>
      <p:sp>
        <p:nvSpPr>
          <p:cNvPr id="186" name="Google Shape;170;p18"/>
          <p:cNvSpPr txBox="1"/>
          <p:nvPr/>
        </p:nvSpPr>
        <p:spPr>
          <a:xfrm>
            <a:off x="571500" y="543966"/>
            <a:ext cx="1160145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37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pPr>
            <a:r>
              <a:t>OOP </a:t>
            </a:r>
            <a:r>
              <a:rPr>
                <a:solidFill>
                  <a:srgbClr val="FBBF24"/>
                </a:solidFill>
              </a:rPr>
              <a:t>Concepts I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75;p19" descr="Google Shape;175;p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Google Shape;176;p19" descr="Google Shape;176;p1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1529804"/>
            <a:ext cx="5286375" cy="490344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Google Shape;177;p19" descr="Google Shape;177;p1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34125" y="1529804"/>
            <a:ext cx="5286375" cy="4903440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Google Shape;178;p19"/>
          <p:cNvSpPr txBox="1"/>
          <p:nvPr/>
        </p:nvSpPr>
        <p:spPr>
          <a:xfrm>
            <a:off x="914400" y="1872703"/>
            <a:ext cx="483060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solidFill>
                  <a:srgbClr val="FBBF24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r>
              <a:t>Generics</a:t>
            </a:r>
          </a:p>
        </p:txBody>
      </p:sp>
      <p:sp>
        <p:nvSpPr>
          <p:cNvPr id="192" name="Google Shape;179;p19"/>
          <p:cNvSpPr txBox="1"/>
          <p:nvPr/>
        </p:nvSpPr>
        <p:spPr>
          <a:xfrm>
            <a:off x="914400" y="2368003"/>
            <a:ext cx="460057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0000"/>
              </a:lnSpc>
              <a:defRPr sz="13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t>Reusable logic constrained by type.</a:t>
            </a:r>
          </a:p>
        </p:txBody>
      </p:sp>
      <p:sp>
        <p:nvSpPr>
          <p:cNvPr id="193" name="Google Shape;180;p19"/>
          <p:cNvSpPr txBox="1"/>
          <p:nvPr/>
        </p:nvSpPr>
        <p:spPr>
          <a:xfrm>
            <a:off x="6677025" y="1872703"/>
            <a:ext cx="483060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solidFill>
                  <a:srgbClr val="FBBF24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r>
              <a:t>Encapsulation</a:t>
            </a:r>
          </a:p>
        </p:txBody>
      </p:sp>
      <p:sp>
        <p:nvSpPr>
          <p:cNvPr id="194" name="Google Shape;181;p19"/>
          <p:cNvSpPr txBox="1"/>
          <p:nvPr/>
        </p:nvSpPr>
        <p:spPr>
          <a:xfrm>
            <a:off x="6677025" y="2368003"/>
            <a:ext cx="460057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0000"/>
              </a:lnSpc>
              <a:defRPr sz="13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t>Protecting internal state with logic gates.</a:t>
            </a:r>
          </a:p>
        </p:txBody>
      </p:sp>
      <p:sp>
        <p:nvSpPr>
          <p:cNvPr id="195" name="Google Shape;182;p19"/>
          <p:cNvSpPr txBox="1"/>
          <p:nvPr/>
        </p:nvSpPr>
        <p:spPr>
          <a:xfrm>
            <a:off x="571500" y="424904"/>
            <a:ext cx="1160145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37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pPr>
            <a:r>
              <a:t>OOP </a:t>
            </a:r>
            <a:r>
              <a:rPr>
                <a:solidFill>
                  <a:srgbClr val="FBBF24"/>
                </a:solidFill>
              </a:rPr>
              <a:t>Concepts II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87;p20" descr="Google Shape;187;p2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Google Shape;188;p20"/>
          <p:cNvSpPr txBox="1"/>
          <p:nvPr/>
        </p:nvSpPr>
        <p:spPr>
          <a:xfrm>
            <a:off x="2885597" y="2472630"/>
            <a:ext cx="6420804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6700" b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Live </a:t>
            </a:r>
            <a:r>
              <a:rPr>
                <a:solidFill>
                  <a:srgbClr val="000000"/>
                </a:solidFill>
              </a:rPr>
              <a:t>Demo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3167390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https://drive.google.com/file/d/1sm9YPhriGbXiAMlrQubgPBBz6L8NW-zW/view?usp=sharing</a:t>
            </a:r>
            <a:endParaRPr lang="ar-EG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301</Words>
  <Application>Microsoft Office PowerPoint</Application>
  <PresentationFormat>Custom</PresentationFormat>
  <Paragraphs>47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ismail - [2010]</cp:lastModifiedBy>
  <cp:revision>1</cp:revision>
  <dcterms:modified xsi:type="dcterms:W3CDTF">2026-05-01T19:34:18Z</dcterms:modified>
</cp:coreProperties>
</file>